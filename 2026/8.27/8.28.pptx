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  <p:sldMasterId id="2147483673" r:id="rId4"/>
  </p:sldMasterIdLst>
  <p:sldIdLst>
    <p:sldId id="310" r:id="rId5"/>
    <p:sldId id="11088665" r:id="rId6"/>
    <p:sldId id="11088682" r:id="rId7"/>
    <p:sldId id="11088684" r:id="rId8"/>
    <p:sldId id="11088685" r:id="rId9"/>
    <p:sldId id="11088687" r:id="rId10"/>
    <p:sldId id="11088686" r:id="rId11"/>
    <p:sldId id="11088691" r:id="rId12"/>
    <p:sldId id="11088688" r:id="rId13"/>
    <p:sldId id="367" r:id="rId14"/>
  </p:sldIdLst>
  <p:sldSz cx="12192000" cy="6858000"/>
  <p:notesSz cx="6858000" cy="9144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微软雅黑 Light" panose="020B0502040204020203" pitchFamily="34" charset="-122"/>
      <p:regular r:id="rId20"/>
    </p:embeddedFont>
    <p:embeddedFont>
      <p:font typeface="黑体" panose="02010609060101010101" pitchFamily="34" charset="-122"/>
      <p:regular r:id="rId21"/>
    </p:embeddedFont>
    <p:embeddedFont>
      <p:font typeface="黑体" panose="02010609060101010101" pitchFamily="34" charset="-120"/>
      <p:regular r:id="rId22"/>
    </p:embeddedFont>
    <p:embeddedFont>
      <p:font typeface="方正小标宋简体" panose="02000000000000000000" pitchFamily="65" charset="-122"/>
      <p:regular r:id="rId23"/>
    </p:embeddedFont>
    <p:embeddedFont>
      <p:font typeface="等线" panose="02010600030101010101" charset="-122"/>
      <p:regular r:id="rId24"/>
      <p:bold r:id="rId25"/>
    </p:embeddedFont>
    <p:embeddedFont>
      <p:font typeface="等线 Light" panose="02010600030101010101" charset="-122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0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BC39-7926-4614-A368-31D1FE4F14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3B15C-67A8-414C-B413-BB837E62DE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B827-5AAB-427E-962D-7CB42547BE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0B971-7B2D-4DBA-82FB-80A687B764D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D3BC39-7926-4614-A368-31D1FE4F145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B13B15C-67A8-414C-B413-BB837E62DE3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D3BC39-7926-4614-A368-31D1FE4F145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B13B15C-67A8-414C-B413-BB837E62DE3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2" Type="http://schemas.openxmlformats.org/officeDocument/2006/relationships/slideLayout" Target="../slideLayouts/slideLayout30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642" y="-27908"/>
            <a:ext cx="3455246" cy="3455246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2745845" y="2547071"/>
            <a:ext cx="66884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  <a:sym typeface="+mn-ea"/>
              </a:rPr>
              <a:t>8</a:t>
            </a:r>
            <a:r>
              <a:rPr lang="zh-CN" altLang="en-US" sz="60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  <a:sym typeface="+mn-ea"/>
              </a:rPr>
              <a:t>月学习进展与</a:t>
            </a:r>
            <a:r>
              <a:rPr lang="zh-CN" altLang="en-US" sz="6000" b="1" dirty="0">
                <a:solidFill>
                  <a:srgbClr val="FFFFFF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  <a:sym typeface="+mn-ea"/>
              </a:rPr>
              <a:t>计划</a:t>
            </a:r>
            <a:endParaRPr lang="zh-CN" altLang="en-US" sz="6000" b="1" dirty="0">
              <a:solidFill>
                <a:srgbClr val="FFFFFF"/>
              </a:solidFill>
              <a:latin typeface="黑体" panose="02010609060101010101" pitchFamily="34" charset="-122"/>
              <a:ea typeface="黑体" panose="02010609060101010101" pitchFamily="34" charset="-122"/>
              <a:cs typeface="黑体" panose="02010609060101010101" pitchFamily="34" charset="-120"/>
              <a:sym typeface="+mn-ea"/>
            </a:endParaRPr>
          </a:p>
        </p:txBody>
      </p:sp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2217774" y="5727356"/>
            <a:ext cx="1769103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周雨宣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圆角矩形 192"/>
          <p:cNvSpPr/>
          <p:nvPr/>
        </p:nvSpPr>
        <p:spPr>
          <a:xfrm>
            <a:off x="4922287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周叶剑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853888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单位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信息工程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学院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47300" y="4710756"/>
            <a:ext cx="2297403" cy="638773"/>
          </a:xfrm>
          <a:prstGeom prst="rect">
            <a:avLst/>
          </a:prstGeom>
          <a:solidFill>
            <a:srgbClr val="F6D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直角三角形 98"/>
          <p:cNvSpPr/>
          <p:nvPr/>
        </p:nvSpPr>
        <p:spPr>
          <a:xfrm>
            <a:off x="7241927" y="4700241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直角三角形 99"/>
          <p:cNvSpPr/>
          <p:nvPr/>
        </p:nvSpPr>
        <p:spPr>
          <a:xfrm flipH="1">
            <a:off x="4852688" y="4708917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5300628" y="4780745"/>
            <a:ext cx="1585242" cy="468532"/>
          </a:xfrm>
          <a:prstGeom prst="rect">
            <a:avLst/>
          </a:prstGeom>
        </p:spPr>
      </p:pic>
      <p:sp>
        <p:nvSpPr>
          <p:cNvPr id="15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本月工作概览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558165" y="127635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 月：从读论文到跑通全流程</a:t>
            </a:r>
            <a:endParaRPr sz="1950" b="1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558165" y="197739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学习重心转变：文献阅读与基础 → 论文代码复现与实验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558165" y="268224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跑通完整链路：匹配 → 重建 → 分割 → 配准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558165" y="338709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制作：QPS-SAR 三种状态模型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558165" y="409194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精读 3DGS 原文，思考延伸方向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58165" y="479679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形成方法体系认识：三条技术路线互补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7334250" y="1676400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SuperGlue 图像匹配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矩形 1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44000" y="22288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↓</a:t>
            </a:r>
            <a:endParaRPr sz="15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圆角矩形 10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334250" y="2400300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SVD 稀疏重建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矩形 10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144000" y="29527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↓</a:t>
            </a:r>
            <a:endParaRPr sz="15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圆角矩形 10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334250" y="3124200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GaussianObject 稠密重建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矩形 10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44000" y="36766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↓</a:t>
            </a:r>
            <a:endParaRPr sz="15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圆角矩形 107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334250" y="3848100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二维 mask → 三维语义投票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矩形 108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144000" y="4400550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↓</a:t>
            </a:r>
            <a:endParaRPr sz="15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圆角矩形 109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334250" y="4572000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TurboReg 点云配准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复现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40" name="矩形 39"/>
          <p:cNvSpPr>
            <a:spLocks noGrp="1"/>
          </p:cNvSpPr>
          <p:nvPr/>
        </p:nvSpPr>
        <p:spPr>
          <a:xfrm>
            <a:off x="571500" y="1240155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图像匹配与稀疏重建</a:t>
            </a:r>
            <a:endParaRPr sz="1800" b="1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71500" y="196596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SuperGlue 匹配：Aura / Cartography / ISAR / TG1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280035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SVD：传统几何法，重建特征点（稀疏点云）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71500" y="363474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DUSt3R：深度学习重建，估计位姿并生成初始点云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71500" y="446913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作用：为稠密重建提供「位姿</a:t>
            </a:r>
            <a:r>
              <a:rPr 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</a:t>
            </a: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初始几何」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220706"/>
            <a:ext cx="4476750" cy="1968663"/>
          </a:xfrm>
          <a:prstGeom prst="rect">
            <a:avLst/>
          </a:prstGeom>
        </p:spPr>
      </p:pic>
      <p:sp>
        <p:nvSpPr>
          <p:cNvPr id="101" name="矩形 100"/>
          <p:cNvSpPr>
            <a:spLocks noGrp="1"/>
          </p:cNvSpPr>
          <p:nvPr/>
        </p:nvSpPr>
        <p:spPr>
          <a:xfrm>
            <a:off x="6477000" y="323850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SuperGlue 匹配结果（Aura）</a:t>
            </a:r>
            <a:endParaRPr sz="1125">
              <a:solidFill>
                <a:srgbClr val="8888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782" y="3810000"/>
            <a:ext cx="3327185" cy="2124075"/>
          </a:xfrm>
          <a:prstGeom prst="rect">
            <a:avLst/>
          </a:prstGeom>
        </p:spPr>
      </p:pic>
      <p:sp>
        <p:nvSpPr>
          <p:cNvPr id="45" name="矩形 44"/>
          <p:cNvSpPr>
            <a:spLocks noGrp="1"/>
          </p:cNvSpPr>
          <p:nvPr/>
        </p:nvSpPr>
        <p:spPr>
          <a:xfrm>
            <a:off x="7048500" y="598170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SVD 稀疏点云重建</a:t>
            </a:r>
            <a:endParaRPr sz="1125">
              <a:solidFill>
                <a:srgbClr val="8888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代码复现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571500" y="110490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GaussianObject </a:t>
            </a:r>
            <a:r>
              <a:rPr lang="zh-CN" sz="1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稠密</a:t>
            </a:r>
            <a:r>
              <a:rPr sz="1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重建</a:t>
            </a:r>
            <a:endParaRPr sz="1800" b="1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571500" y="162877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20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五环节：Visual Hull → Coarse 3DGS → Leave-One-Out</a:t>
            </a:r>
            <a:r>
              <a:rPr 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1600">
                <a:sym typeface="+mn-ea"/>
              </a:rPr>
              <a:t>→</a:t>
            </a:r>
            <a:r>
              <a:rPr lang="en-US" sz="1600">
                <a:sym typeface="+mn-ea"/>
              </a:rPr>
              <a:t> </a:t>
            </a:r>
            <a:r>
              <a:rPr sz="1600">
                <a:sym typeface="+mn-ea"/>
              </a:rPr>
              <a:t>LoRA 微调 → Gaussian Repair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571500" y="290766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Kitchen 官方案例全流程跑通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571500" y="370522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迁移 T3 真实数据：已有初始点云，直接训练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71500" y="450278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T3 效果低于 Kitchen → 原因待分析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6096000" y="358203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Kitchen：Coarse 3DGS</a:t>
            </a:r>
            <a:endParaRPr sz="1125">
              <a:solidFill>
                <a:srgbClr val="8888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990" y="2489200"/>
            <a:ext cx="2935605" cy="2378075"/>
          </a:xfrm>
          <a:prstGeom prst="rect">
            <a:avLst/>
          </a:prstGeom>
        </p:spPr>
      </p:pic>
      <p:sp>
        <p:nvSpPr>
          <p:cNvPr id="104" name="矩形 103"/>
          <p:cNvSpPr>
            <a:spLocks noGrp="1"/>
          </p:cNvSpPr>
          <p:nvPr/>
        </p:nvSpPr>
        <p:spPr>
          <a:xfrm>
            <a:off x="9056370" y="517715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T3：Gaussian Repair 结果</a:t>
            </a:r>
            <a:endParaRPr sz="1125">
              <a:solidFill>
                <a:srgbClr val="8888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6195695" y="5414645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C05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C05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真实数据迁移：流程可跑通，质量仍需提升</a:t>
            </a:r>
            <a:endParaRPr sz="1350" b="1">
              <a:solidFill>
                <a:srgbClr val="C05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image-2026081223012879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51915"/>
            <a:ext cx="3132455" cy="2058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代码复现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368935" y="114808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语义分割、配准与数据制作</a:t>
            </a:r>
            <a:endParaRPr sz="1800" b="1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368935" y="173863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语义分割：二维 mask → 三维点云标签投影投票（当前用已有 mask）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368935" y="2648585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配准：TurboReg 官方 demo 跑通，CloudCompare 验证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368935" y="4680585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数据：QPS-SAR 闭合 / 半开 / 完全展开三状态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368935" y="330962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定位：分割与配准是后续创新点所在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205" y="1399540"/>
            <a:ext cx="2026920" cy="1701165"/>
          </a:xfrm>
          <a:prstGeom prst="rect">
            <a:avLst/>
          </a:prstGeom>
        </p:spPr>
      </p:pic>
      <p:sp>
        <p:nvSpPr>
          <p:cNvPr id="101" name="矩形 100"/>
          <p:cNvSpPr>
            <a:spLocks noGrp="1"/>
          </p:cNvSpPr>
          <p:nvPr/>
        </p:nvSpPr>
        <p:spPr>
          <a:xfrm>
            <a:off x="8990965" y="33782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TurboReg 配准效果</a:t>
            </a:r>
            <a:endParaRPr sz="1125">
              <a:solidFill>
                <a:srgbClr val="8888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3902710"/>
            <a:ext cx="3058795" cy="1675765"/>
          </a:xfrm>
          <a:prstGeom prst="rect">
            <a:avLst/>
          </a:prstGeom>
        </p:spPr>
      </p:pic>
      <p:sp>
        <p:nvSpPr>
          <p:cNvPr id="103" name="矩形 102"/>
          <p:cNvSpPr>
            <a:spLocks noGrp="1"/>
          </p:cNvSpPr>
          <p:nvPr/>
        </p:nvSpPr>
        <p:spPr>
          <a:xfrm>
            <a:off x="9133205" y="567436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QPS-SAR 三状态模型</a:t>
            </a:r>
            <a:endParaRPr sz="1125">
              <a:solidFill>
                <a:srgbClr val="8888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68935" y="4189730"/>
            <a:ext cx="552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3D </a:t>
            </a:r>
            <a:r>
              <a:rPr lang="en-US" sz="1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</a:t>
            </a:r>
            <a:endParaRPr lang="en-US" sz="1800" b="1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660" y="1402080"/>
            <a:ext cx="2101850" cy="4252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3764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3DGS 论文阅读与思考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571500" y="112395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显式表示：三维高斯原语（位置 / 协方差 / 不透明度 / 球谐颜色），SfM 点云初始化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571500" y="161925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优化 + 自适应密度控制：按视空间梯度克隆 / 分裂，剪除透明高斯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571500" y="211455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渲染：tile 光栅化 + 深度排序 α-blending，1080p 实时（约 135 fps）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571500" y="260985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效率：训练 35–45 min 达到与 Mip-NeRF360（48 h）相当的质量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571500" y="310515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关键差异：3DGS 假设密集视角；GaussianObject 面向少视角扩展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71500" y="360045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对毕设启发：语义高斯分割、稠密几何辅助配准</a:t>
            </a:r>
            <a:endParaRPr sz="15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165" y="4255315"/>
            <a:ext cx="10096500" cy="169382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245" y="1391285"/>
            <a:ext cx="2909570" cy="2470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方法关系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思考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graphicFrame>
        <p:nvGraphicFramePr>
          <p:cNvPr id="106" name="表格 105"/>
          <p:cNvGraphicFramePr/>
          <p:nvPr/>
        </p:nvGraphicFramePr>
        <p:xfrm>
          <a:off x="709295" y="1529080"/>
          <a:ext cx="6667500" cy="3143250"/>
        </p:xfrm>
        <a:graphic>
          <a:graphicData uri="http://schemas.openxmlformats.org/drawingml/2006/table">
            <a:tbl>
              <a:tblPr firstRow="1"/>
              <a:tblGrid>
                <a:gridCol w="1238250"/>
                <a:gridCol w="2095500"/>
                <a:gridCol w="3333750"/>
              </a:tblGrid>
              <a:tr h="523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环节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方法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作用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特征对应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SuperGlue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图像关键点匹配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初始几何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SVD / DUSt3R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位姿估计 + 初始点云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稠密重建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GaussianObject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少视角高质量重建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语义分割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mask 投影投票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2D 标签提升到 3D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配准拼接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TurboReg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部件点云配准拼接</a:t>
                      </a:r>
                      <a:endParaRPr sz="135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6" name="矩形 95"/>
          <p:cNvSpPr>
            <a:spLocks noGrp="1"/>
          </p:cNvSpPr>
          <p:nvPr/>
        </p:nvSpPr>
        <p:spPr>
          <a:xfrm>
            <a:off x="571500" y="5035550"/>
            <a:ext cx="1104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三条路线互补：传统几何（SVD / ICP）· 深度学习（SuperGlue / DUSt3R / SAM）· 可微渲染优化（3DGS）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1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语义引导的部件级配准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571500" y="1436370"/>
            <a:ext cx="590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思路：语义约束贯穿配准全流程</a:t>
            </a:r>
            <a:endParaRPr sz="195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222123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语义约束对应：仅同类部件之间建立匹配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273558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语义相容图：SC² 几何一致性 + 标签一致性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71500" y="324993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语义加权 ICP：图置信度 + 语义置信度 + 残差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571500" y="376428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部件级装配：先部件内配准，再全局拼接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571500" y="427863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复用：mask 语义投票、TurboReg、加权 ICP（已有基础）</a:t>
            </a:r>
            <a:endParaRPr sz="16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6667500" y="1503045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方法流程</a:t>
            </a:r>
            <a:endParaRPr sz="18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7334250" y="203644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语义点云（部件标签）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9144000" y="258889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↓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7334250" y="276034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语义约束匹配（FPFH + 过滤）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9144000" y="331279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↓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334250" y="348424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语义相容图（TurboClique / PGS）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9144000" y="4036695"/>
            <a:ext cx="228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↓</a:t>
            </a:r>
            <a:endParaRPr sz="1500" b="1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7334250" y="4208145"/>
            <a:ext cx="3810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4288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加权 ICP 细配准 → 跨时段拼接</a:t>
            </a:r>
            <a:endParaRPr sz="1350" b="1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154983" y="69743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下一个月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计划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770255" y="2131695"/>
            <a:ext cx="10323195" cy="611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延伸阅读：语义高斯 / 少视角重建 / 配准相关论文</a:t>
            </a:r>
            <a:endParaRPr sz="20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70255" y="1406525"/>
            <a:ext cx="1104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</a:t>
            </a:r>
            <a:r>
              <a:rPr lang="zh-CN"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论文延伸探索</a:t>
            </a:r>
            <a:r>
              <a:rPr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：语义引导的部件级配准（语义约束对应 + 语义相容图 + 加权 ICP）</a:t>
            </a:r>
            <a:endParaRPr sz="20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70255" y="2896870"/>
            <a:ext cx="11049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5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 </a:t>
            </a:r>
            <a:r>
              <a:rPr lang="zh-CN" sz="2000">
                <a:sym typeface="+mn-ea"/>
              </a:rPr>
              <a:t>延伸探索</a:t>
            </a:r>
            <a:r>
              <a:rPr sz="20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：稠密重建（3DGS）反哺配准 / 高斯层面配准</a:t>
            </a:r>
            <a:endParaRPr sz="200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-5500" y="-27758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7" y="2573672"/>
            <a:ext cx="3455246" cy="3455246"/>
          </a:xfrm>
          <a:prstGeom prst="rect">
            <a:avLst/>
          </a:prstGeom>
        </p:spPr>
      </p:pic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2514355" y="5753234"/>
            <a:ext cx="1769103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周雨宣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圆角矩形 192"/>
          <p:cNvSpPr/>
          <p:nvPr/>
        </p:nvSpPr>
        <p:spPr>
          <a:xfrm>
            <a:off x="4935945" y="5753234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 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周叶剑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929621" y="5753234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单位</a:t>
            </a:r>
            <a:r>
              <a:rPr kumimoji="1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1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信息工程学院</a:t>
            </a: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47300" y="4710756"/>
            <a:ext cx="2297403" cy="638773"/>
          </a:xfrm>
          <a:prstGeom prst="rect">
            <a:avLst/>
          </a:prstGeom>
          <a:solidFill>
            <a:srgbClr val="F6D9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9" name="直角三角形 98"/>
          <p:cNvSpPr/>
          <p:nvPr/>
        </p:nvSpPr>
        <p:spPr>
          <a:xfrm>
            <a:off x="7241927" y="4700241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直角三角形 99"/>
          <p:cNvSpPr/>
          <p:nvPr/>
        </p:nvSpPr>
        <p:spPr>
          <a:xfrm flipH="1">
            <a:off x="4852688" y="4708917"/>
            <a:ext cx="91883" cy="291083"/>
          </a:xfrm>
          <a:prstGeom prst="rtTriangle">
            <a:avLst/>
          </a:prstGeom>
          <a:solidFill>
            <a:srgbClr val="D6A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69175" y="863992"/>
            <a:ext cx="6083717" cy="2036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谢谢大家</a:t>
            </a:r>
            <a:endParaRPr kumimoji="1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93622" y="476072"/>
            <a:ext cx="50897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THANKS</a:t>
            </a:r>
            <a:endParaRPr kumimoji="1" lang="zh-CN" altLang="en-US" sz="88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>
                      <a:alpha val="43000"/>
                    </a:prstClr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5300628" y="4780745"/>
            <a:ext cx="1585242" cy="468532"/>
          </a:xfrm>
          <a:prstGeom prst="rect">
            <a:avLst/>
          </a:prstGeom>
        </p:spPr>
      </p:pic>
      <p:sp>
        <p:nvSpPr>
          <p:cNvPr id="18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ags/tag2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ags/tag3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ags/tag4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ags/tag5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ags/tag6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ags/tag7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ags/tag8.xml><?xml version="1.0" encoding="utf-8"?>
<p:tagLst xmlns:p="http://schemas.openxmlformats.org/presentationml/2006/main">
  <p:tag name="KSO_WM_DIAGRAM_VIRTUALLY_FRAME" val="{&quot;height&quot;:228,&quot;left&quot;:577.5,&quot;top&quot;:175.5,&quot;width&quot;:30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1711</Words>
  <Application>WPS 演示</Application>
  <PresentationFormat>宽屏</PresentationFormat>
  <Paragraphs>199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 Light</vt:lpstr>
      <vt:lpstr>Microsoft YaHei Regular</vt:lpstr>
      <vt:lpstr>黑体</vt:lpstr>
      <vt:lpstr>黑体</vt:lpstr>
      <vt:lpstr>方正小标宋简体</vt:lpstr>
      <vt:lpstr>微软雅黑</vt:lpstr>
      <vt:lpstr>Times New Roman</vt:lpstr>
      <vt:lpstr>Segoe Print</vt:lpstr>
      <vt:lpstr>等线</vt:lpstr>
      <vt:lpstr>Arial Unicode MS</vt:lpstr>
      <vt:lpstr>Calibri</vt:lpstr>
      <vt:lpstr>等线 Light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苗苗</dc:creator>
  <cp:lastModifiedBy>Praise</cp:lastModifiedBy>
  <cp:revision>17</cp:revision>
  <dcterms:created xsi:type="dcterms:W3CDTF">2024-02-28T11:20:00Z</dcterms:created>
  <dcterms:modified xsi:type="dcterms:W3CDTF">2026-08-28T02:28:40Z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9D35A17BAC274509ADBFE7D33B04147A_13</vt:lpwstr>
  </property>
  <property fmtid="{D5CDD505-2E9C-101B-9397-08002B2CF9AE}" pid="3" name="KSOProductBuildVer">
    <vt:lpwstr>2052-12.1.0.28043</vt:lpwstr>
  </property>
</Properties>
</file>